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94d52598e74faf" /><Relationship Type="http://schemas.openxmlformats.org/officeDocument/2006/relationships/extended-properties" Target="/docProps/app.xml" Id="Ref135f4877f2437e" /><Relationship Type="http://schemas.openxmlformats.org/officeDocument/2006/relationships/officeDocument" Target="/ppt/presentation.xml" Id="R427b62dd53bd49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d0845696d4465a"/>
  </p:sldMasterIdLst>
  <p:notesMasterIdLst>
    <p:notesMasterId xmlns:r="http://schemas.openxmlformats.org/officeDocument/2006/relationships" r:id="R8a6429b8674440d4"/>
  </p:notesMasterIdLst>
  <p:sldIdLst>
    <p:sldId xmlns:r="http://schemas.openxmlformats.org/officeDocument/2006/relationships" id="256" r:id="R1845de4137de4a48"/>
    <p:sldId xmlns:r="http://schemas.openxmlformats.org/officeDocument/2006/relationships" id="257" r:id="Ra4b36211a3f94190"/>
    <p:sldId xmlns:r="http://schemas.openxmlformats.org/officeDocument/2006/relationships" id="258" r:id="Rf71e9efd56924dab"/>
    <p:sldId xmlns:r="http://schemas.openxmlformats.org/officeDocument/2006/relationships" id="259" r:id="Rc566802b619f4951"/>
    <p:sldId xmlns:r="http://schemas.openxmlformats.org/officeDocument/2006/relationships" id="260" r:id="R77b663ee5a0c4a38"/>
    <p:sldId xmlns:r="http://schemas.openxmlformats.org/officeDocument/2006/relationships" id="261" r:id="R5ee6eeea1eef46e8"/>
    <p:sldId xmlns:r="http://schemas.openxmlformats.org/officeDocument/2006/relationships" id="262" r:id="R0401e2ca5cf84117"/>
    <p:sldId xmlns:r="http://schemas.openxmlformats.org/officeDocument/2006/relationships" id="263" r:id="R0969d0da669c4d2d"/>
    <p:sldId xmlns:r="http://schemas.openxmlformats.org/officeDocument/2006/relationships" id="264" r:id="Rbcff936912d94345"/>
    <p:sldId xmlns:r="http://schemas.openxmlformats.org/officeDocument/2006/relationships" id="265" r:id="R4893f117095c45e9"/>
    <p:sldId xmlns:r="http://schemas.openxmlformats.org/officeDocument/2006/relationships" id="266" r:id="Rb163b2ea74904bf4"/>
    <p:sldId xmlns:r="http://schemas.openxmlformats.org/officeDocument/2006/relationships" id="267" r:id="Re8217ad1ec2c4458"/>
    <p:sldId xmlns:r="http://schemas.openxmlformats.org/officeDocument/2006/relationships" id="268" r:id="R23b93589ce884618"/>
    <p:sldId xmlns:r="http://schemas.openxmlformats.org/officeDocument/2006/relationships" id="269" r:id="R2c54cbca85d54c21"/>
    <p:sldId xmlns:r="http://schemas.openxmlformats.org/officeDocument/2006/relationships" id="270" r:id="R8839596a4dd942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0845696d4465a" /><Relationship Type="http://schemas.openxmlformats.org/officeDocument/2006/relationships/theme" Target="/ppt/theme/theme1.xml" Id="Rdbfa9bf287204ab6" /><Relationship Type="http://schemas.openxmlformats.org/officeDocument/2006/relationships/notesMaster" Target="/ppt/notesMasters/notesMaster1.xml" Id="R8a6429b8674440d4" /><Relationship Type="http://schemas.openxmlformats.org/officeDocument/2006/relationships/presProps" Target="/ppt/presProps.xml" Id="R3b7665313ac6424e" /><Relationship Type="http://schemas.openxmlformats.org/officeDocument/2006/relationships/viewProps" Target="/ppt/viewProps.xml" Id="R00a5b9bbb8ca4a23" /><Relationship Type="http://schemas.openxmlformats.org/officeDocument/2006/relationships/tableStyles" Target="/ppt/tableStyles.xml" Id="Ra1cb4faafde94e96" /><Relationship Type="http://schemas.openxmlformats.org/officeDocument/2006/relationships/slide" Target="/ppt/slides/slide1.xml" Id="R1845de4137de4a48" /><Relationship Type="http://schemas.openxmlformats.org/officeDocument/2006/relationships/slide" Target="/ppt/slides/slide2.xml" Id="Ra4b36211a3f94190" /><Relationship Type="http://schemas.openxmlformats.org/officeDocument/2006/relationships/slide" Target="/ppt/slides/slide3.xml" Id="Rf71e9efd56924dab" /><Relationship Type="http://schemas.openxmlformats.org/officeDocument/2006/relationships/slide" Target="/ppt/slides/slide4.xml" Id="Rc566802b619f4951" /><Relationship Type="http://schemas.openxmlformats.org/officeDocument/2006/relationships/slide" Target="/ppt/slides/slide5.xml" Id="R77b663ee5a0c4a38" /><Relationship Type="http://schemas.openxmlformats.org/officeDocument/2006/relationships/slide" Target="/ppt/slides/slide6.xml" Id="R5ee6eeea1eef46e8" /><Relationship Type="http://schemas.openxmlformats.org/officeDocument/2006/relationships/slide" Target="/ppt/slides/slide7.xml" Id="R0401e2ca5cf84117" /><Relationship Type="http://schemas.openxmlformats.org/officeDocument/2006/relationships/slide" Target="/ppt/slides/slide8.xml" Id="R0969d0da669c4d2d" /><Relationship Type="http://schemas.openxmlformats.org/officeDocument/2006/relationships/slide" Target="/ppt/slides/slide9.xml" Id="Rbcff936912d94345" /><Relationship Type="http://schemas.openxmlformats.org/officeDocument/2006/relationships/slide" Target="/ppt/slides/slide10.xml" Id="R4893f117095c45e9" /><Relationship Type="http://schemas.openxmlformats.org/officeDocument/2006/relationships/slide" Target="/ppt/slides/slide11.xml" Id="Rb163b2ea74904bf4" /><Relationship Type="http://schemas.openxmlformats.org/officeDocument/2006/relationships/slide" Target="/ppt/slides/slide12.xml" Id="Re8217ad1ec2c4458" /><Relationship Type="http://schemas.openxmlformats.org/officeDocument/2006/relationships/slide" Target="/ppt/slides/slide13.xml" Id="R23b93589ce884618" /><Relationship Type="http://schemas.openxmlformats.org/officeDocument/2006/relationships/slide" Target="/ppt/slides/slide14.xml" Id="R2c54cbca85d54c21" /><Relationship Type="http://schemas.openxmlformats.org/officeDocument/2006/relationships/slide" Target="/ppt/slides/slide15.xml" Id="R8839596a4dd942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815f4168ea41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ca6f395c244e4e" /><Relationship Type="http://schemas.openxmlformats.org/officeDocument/2006/relationships/notesMaster" Target="/ppt/notesMasters/notesMaster1.xml" Id="R89c83b5d8e5240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d535808fc04973" /><Relationship Type="http://schemas.openxmlformats.org/officeDocument/2006/relationships/notesMaster" Target="/ppt/notesMasters/notesMaster1.xml" Id="R245f58c2cfe94c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9f9f322f5e47ab" /><Relationship Type="http://schemas.openxmlformats.org/officeDocument/2006/relationships/notesMaster" Target="/ppt/notesMasters/notesMaster1.xml" Id="R477b8c0c236c47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2fe83dc07c43f7" /><Relationship Type="http://schemas.openxmlformats.org/officeDocument/2006/relationships/notesMaster" Target="/ppt/notesMasters/notesMaster1.xml" Id="Rc9a54050f68d48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e0f6c655dd4a31" /><Relationship Type="http://schemas.openxmlformats.org/officeDocument/2006/relationships/notesMaster" Target="/ppt/notesMasters/notesMaster1.xml" Id="R63161573d0ac4c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31e0aa0fc844af" /><Relationship Type="http://schemas.openxmlformats.org/officeDocument/2006/relationships/notesMaster" Target="/ppt/notesMasters/notesMaster1.xml" Id="Re4dc8821d52645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0397c79b774820" /><Relationship Type="http://schemas.openxmlformats.org/officeDocument/2006/relationships/notesMaster" Target="/ppt/notesMasters/notesMaster1.xml" Id="R332d408f04c04b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bcad54b25145ce" /><Relationship Type="http://schemas.openxmlformats.org/officeDocument/2006/relationships/notesMaster" Target="/ppt/notesMasters/notesMaster1.xml" Id="Rc84a634f3f0544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5e447e253b4c0c" /><Relationship Type="http://schemas.openxmlformats.org/officeDocument/2006/relationships/notesMaster" Target="/ppt/notesMasters/notesMaster1.xml" Id="Rc39038e4327f44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643e756e0b43e7" /><Relationship Type="http://schemas.openxmlformats.org/officeDocument/2006/relationships/notesMaster" Target="/ppt/notesMasters/notesMaster1.xml" Id="R15f592e2cc3d43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d7310f5d2e4289" /><Relationship Type="http://schemas.openxmlformats.org/officeDocument/2006/relationships/notesMaster" Target="/ppt/notesMasters/notesMaster1.xml" Id="Reedd2d6dc67f43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6e2b848bb04ef5" /><Relationship Type="http://schemas.openxmlformats.org/officeDocument/2006/relationships/notesMaster" Target="/ppt/notesMasters/notesMaster1.xml" Id="R5c4fd48849f446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2e9175386a43a2" /><Relationship Type="http://schemas.openxmlformats.org/officeDocument/2006/relationships/notesMaster" Target="/ppt/notesMasters/notesMaster1.xml" Id="R5d00e4ccaa6e4b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6d19c605f74e1c" /><Relationship Type="http://schemas.openxmlformats.org/officeDocument/2006/relationships/notesMaster" Target="/ppt/notesMasters/notesMaster1.xml" Id="Rc89fa8a285da46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1ad1814b984bd9" /><Relationship Type="http://schemas.openxmlformats.org/officeDocument/2006/relationships/notesMaster" Target="/ppt/notesMasters/notesMaster1.xml" Id="Rc3585d7cf0b248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8306dec8664fb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9c812410a244f3d" /><Relationship Type="http://schemas.openxmlformats.org/officeDocument/2006/relationships/slideLayout" Target="/ppt/slideLayouts/slideLayout2.xml" Id="R4a93e927cfc443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93e927cfc443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60c7d072184d69" /><Relationship Type="http://schemas.openxmlformats.org/officeDocument/2006/relationships/image" Target="/ppt/media/image.png" Id="R1e6e036e519f4061" /><Relationship Type="http://schemas.openxmlformats.org/officeDocument/2006/relationships/notesSlide" Target="/ppt/notesSlides/notesSlide1.xml" Id="Rb088921f14ae4b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f148407faf450d" /><Relationship Type="http://schemas.openxmlformats.org/officeDocument/2006/relationships/notesSlide" Target="/ppt/notesSlides/notesSlide2.xml" Id="R7db571f7397a4c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77f11dbd73475d" /><Relationship Type="http://schemas.openxmlformats.org/officeDocument/2006/relationships/notesSlide" Target="/ppt/notesSlides/notesSlide3.xml" Id="R2b5ac6ff1cb24e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e669b7eec7424b" /><Relationship Type="http://schemas.openxmlformats.org/officeDocument/2006/relationships/notesSlide" Target="/ppt/notesSlides/notesSlide4.xml" Id="R7c133dbced0841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2d76f45d424ebb" /><Relationship Type="http://schemas.openxmlformats.org/officeDocument/2006/relationships/image" Target="/ppt/media/image2.png" Id="R194b8e9600294bef" /><Relationship Type="http://schemas.openxmlformats.org/officeDocument/2006/relationships/notesSlide" Target="/ppt/notesSlides/notesSlide5.xml" Id="Rf08e1df3449a48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0a274ccd544a7a" /><Relationship Type="http://schemas.openxmlformats.org/officeDocument/2006/relationships/image" Target="/ppt/media/image3.png" Id="R70072b18b5354f47" /><Relationship Type="http://schemas.openxmlformats.org/officeDocument/2006/relationships/notesSlide" Target="/ppt/notesSlides/notesSlide6.xml" Id="Rf62072e8cf844b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1e7306ed0c43b1" /><Relationship Type="http://schemas.openxmlformats.org/officeDocument/2006/relationships/image" Target="/ppt/media/image4.png" Id="R0c249847b4794ba5" /><Relationship Type="http://schemas.openxmlformats.org/officeDocument/2006/relationships/notesSlide" Target="/ppt/notesSlides/notesSlide7.xml" Id="Rffd44816541543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102b633753410d" /><Relationship Type="http://schemas.openxmlformats.org/officeDocument/2006/relationships/image" Target="/ppt/media/image.jpeg" Id="R524f124f795a4e5d" /><Relationship Type="http://schemas.openxmlformats.org/officeDocument/2006/relationships/notesSlide" Target="/ppt/notesSlides/notesSlide8.xml" Id="R1791844eca7449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ba5261d244337" /><Relationship Type="http://schemas.openxmlformats.org/officeDocument/2006/relationships/image" Target="/ppt/media/image5.png" Id="R3d5657c25f974d07" /><Relationship Type="http://schemas.openxmlformats.org/officeDocument/2006/relationships/notesSlide" Target="/ppt/notesSlides/notesSlide9.xml" Id="R74d6454d66f74a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528a2ee0074047" /><Relationship Type="http://schemas.openxmlformats.org/officeDocument/2006/relationships/image" Target="/ppt/media/image6.png" Id="R51635947b66b4fdc" /><Relationship Type="http://schemas.openxmlformats.org/officeDocument/2006/relationships/notesSlide" Target="/ppt/notesSlides/notesSlide10.xml" Id="R1cffeb0cb9504e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92276729b84443" /><Relationship Type="http://schemas.openxmlformats.org/officeDocument/2006/relationships/notesSlide" Target="/ppt/notesSlides/notesSlide11.xml" Id="Rccae8244465745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ca4de468854000" /><Relationship Type="http://schemas.openxmlformats.org/officeDocument/2006/relationships/image" Target="/ppt/media/image7.png" Id="R3a9c8f3cbcb8433c" /><Relationship Type="http://schemas.openxmlformats.org/officeDocument/2006/relationships/notesSlide" Target="/ppt/notesSlides/notesSlide12.xml" Id="Rf9331574691649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ad9e74e5064c9a" /><Relationship Type="http://schemas.openxmlformats.org/officeDocument/2006/relationships/notesSlide" Target="/ppt/notesSlides/notesSlide13.xml" Id="R6eaf13b669fc4c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e74a604162499a" /><Relationship Type="http://schemas.openxmlformats.org/officeDocument/2006/relationships/notesSlide" Target="/ppt/notesSlides/notesSlide14.xml" Id="R5c2f8a389c9445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6539c28232499c" /><Relationship Type="http://schemas.openxmlformats.org/officeDocument/2006/relationships/notesSlide" Target="/ppt/notesSlides/notesSlide15.xml" Id="Re59fb783e13a48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B92EE-C101-4997-84F8-ADDAAA2D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859D8-38D6-441F-AF3E-31ADFB06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04618-FCB4-426D-8B64-4EEE4D55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PARAKH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A07B3-AFED-435D-8110-F8C7C35B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Procurement Audit-Ready Assessment &amp; Knowledge Harnessing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A80D2-113C-4F4D-B6D0-95889150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AI-Based Tender Evaluation and Eligibility Analysis for Government Procurement by CRPF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D9DCD-0A17-46EA-BC2C-1FDCEFCC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An officer-first procurement evaluation platform</a:t>
            </a:r>
          </a:p>
          <a:p xmlns:a="http://schemas.openxmlformats.org/drawingml/2006/main">
            <a:pPr algn="l">
              <a:defRPr sz="112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that makes tender decisions transparent,</a:t>
            </a:r>
          </a:p>
          <a:p xmlns:a="http://schemas.openxmlformats.org/drawingml/2006/main">
            <a:pPr algn="l">
              <a:defRPr sz="112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consistent, and defensible.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D2FBF-E2A4-4BCE-953E-7BB86430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40767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CB517-5440-469E-84DB-7EC152DC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DC32E-977E-4935-9FED-33A4F089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Team Zenith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6DAEE-9F8D-4540-9BE1-70EC96D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Abhishek Neema (Leader)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Ramadhar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Aakash Kumar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Prahlad Bhatt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e036e519f4061"/>
          <a:stretch xmlns:a="http://schemas.openxmlformats.org/drawingml/2006/main"/>
        </p:blipFill>
        <p:spPr>
          <a:xfrm xmlns:a="http://schemas.openxmlformats.org/drawingml/2006/main">
            <a:off x="5981700" y="1628987"/>
            <a:ext cx="5562600" cy="302852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B7055-812A-4978-9F98-95E9B517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Hackathon presentation for judges, mentors, and operational reviewers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5596A-557B-4FE6-B0E6-A6273E42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290F9-8320-4472-A748-EB448CEF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 | AI for Bharat Hackathon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9B5CC-14B1-4A9B-B7CF-4A5FB2F0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42791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526D3B-524B-410D-BBCD-3206BB50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9A527-FC47-4715-A878-E1980808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3B1B1-136C-4D94-AF32-F373D460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110FA-4532-49EB-8220-E91D0D4A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The real procurement challenge is not just reading files. It is defending a decision later.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06882-386C-4A3C-842C-A0755FF7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CRPF-style procurement forces officers to act quickly while still satisfying audit, vigilance, and public-information scrutiny.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CCB53-C664-4836-B857-4CE6C58F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53F58-2C9D-46FE-8A0E-4B04FD2F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7647D-AA49-43FB-9DFB-F917C002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A2EA0-2026-461B-AA2D-836288CD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A9AA9-F831-4D33-9955-A8490B3B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0DDA3-6E8A-4981-9721-9603AF5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95E6B-EC80-4596-96C0-C4A3297D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336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Heavy documentation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DBA8F-B4AA-4598-9275-AD9D26D4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91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Government tender evaluation is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document-heavy, time-sensitive, and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vulnerable to inconsistent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interpretation.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BBF90-5AB0-426C-BBC3-5E401FB0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1A2E6-7B6C-470C-A77C-BD3DBEE4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6BDF9-42F0-443A-BAC4-06A4177F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8127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E08D4-91B7-458C-8984-95E42B61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Mixed input 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AED3C-2823-490F-8414-DF71FF03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4991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Bid packs contain mixed formats such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as digital PDFs, scans, photos,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handwritten notes, annexures, and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corrigenda.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6F97A-ADBB-41B0-877F-27747C34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F457F-3721-4A40-B06E-114B40E0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852A9-637A-48E1-805F-CB2C1CF4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CC660-5811-4F3A-9F2C-B89633A1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Officer liability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1F446-BAAB-4BD1-9B56-5C742DDF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991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Officers face personal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accountability under RTI, vigilance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review, audit, and legal challenge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if a decision cannot be defended.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3E888F-D107-4DD7-BDDE-17F5CE34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1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1F8295-91E4-4368-A587-B6E1A130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96029-49B6-4597-A0E0-B5F0DF9E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00F845-3718-4659-9A3A-85CDEF05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71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Black-box AI risk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8232D-EC59-4226-A4CA-0A3852BE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91050"/>
            <a:ext cx="4991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Generic black-box AI is risky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because OCR uncertainty, ambiguous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clauses, and subjective criteria can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cause silent errors.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DB1AD-8CD1-48FB-85F5-DDABCBC6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1163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10478">
            <a:solidFill>
              <a:srgbClr val="E6D7B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3292AD-E8A2-4236-ACEC-E080F87B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89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892D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86A58-0184-429C-B902-1A7E7B32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If the platform cannot show evidence, logic, and chronology, it increases risk instead of reducing it. PARAKH is designed specifically to close that explanation gap.</a:t>
            </a:r>
          </a:p>
        </p:txBody>
      </p:sp>
    </p:spTree>
    <p:extLst>
      <p:ext uri="{BB962C8B-B14F-4D97-AF65-F5344CB8AC3E}">
        <p14:creationId xmlns:p14="http://schemas.microsoft.com/office/powerpoint/2010/main" val="10610935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34178F-8EFB-47F0-B981-67A26A1E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2D79E-52F3-4EF6-91A4-DF13A501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C2806-6B81-4609-91D6-96F6AA48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7BC7C-69B2-43B2-91BD-C5FC0834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Manual review breaks down exactly where public accountability becomes most important.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A3665-CCAF-4818-BED5-B10E84EC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Officers often assemble evidence, interpret criteria, record notes, and defend outcomes across disconnected 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579C7-712B-4415-A1B0-7A92722D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92DC2-519F-4BD2-B0CE-658A7848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76EC1-E395-4DDE-A4E6-539838FD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CC9BD-AE68-4F3C-B3B8-A85CA031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20193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119B5-41FE-408B-BD8F-B68C6BD4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C26E0-C7E1-475A-887A-EF8AE7E4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F0E1A-6A33-43DF-8240-F470E714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908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Read every 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6EC8B-0E40-45A7-869C-58CD6513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6764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Tender packs, annexures, scans,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photos, and corrigenda all have to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be assembled manually.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A4E68-1FD9-4527-8709-8916EAA4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766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E"/>
          </a:solidFill>
          <a:ln xmlns:a="http://schemas.openxmlformats.org/drawingml/2006/main" w="0">
            <a:solidFill>
              <a:srgbClr val="1F5D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67D1C-22B7-4416-ADE3-84B30CB7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194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E"/>
          </a:solidFill>
          <a:ln xmlns:a="http://schemas.openxmlformats.org/drawingml/2006/main" w="0">
            <a:solidFill>
              <a:srgbClr val="1F5D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27DF8-CAC0-435E-9240-1CF2AC72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19350"/>
            <a:ext cx="20193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35841-424F-475D-BB69-B93ECC69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908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A62CE-BF24-4F9F-B5BB-FBA44B6B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384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C5B7F-CEDE-4AAE-A554-6C0E1DF8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Interpret clauses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9E119D-988F-42F2-9C88-F606336F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16764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Hard thresholds and subjective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requirements are mixed together in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real tender sets.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DAB90-35E5-45A2-A7D1-99A249A5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766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E"/>
          </a:solidFill>
          <a:ln xmlns:a="http://schemas.openxmlformats.org/drawingml/2006/main" w="0">
            <a:solidFill>
              <a:srgbClr val="1F5D8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8651F-95B4-49EE-903D-6178C094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194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E"/>
          </a:solidFill>
          <a:ln xmlns:a="http://schemas.openxmlformats.org/drawingml/2006/main" w="0">
            <a:solidFill>
              <a:srgbClr val="1F5D8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B275ED-0828-4CCD-971B-F86F7E7F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19350"/>
            <a:ext cx="20193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2E8B44-C78D-4B5F-86BA-15C8F323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ECBAE6-D787-482D-ABFB-6E428271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384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77D659-CECC-4DDB-835C-707D07D1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908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Compare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7995AA-AB24-4350-A990-7D42BC00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16764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Turnover, tax identity, ballistic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reports, and experience proofs are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validated by hand.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7BE604-DD9A-4959-8D22-5BDB586B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766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E"/>
          </a:solidFill>
          <a:ln xmlns:a="http://schemas.openxmlformats.org/drawingml/2006/main" w="0">
            <a:solidFill>
              <a:srgbClr val="1F5D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713C64-24C3-4DE1-9C6B-538C1577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194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E"/>
          </a:solidFill>
          <a:ln xmlns:a="http://schemas.openxmlformats.org/drawingml/2006/main" w="0">
            <a:solidFill>
              <a:srgbClr val="1F5D8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73F7A5-9525-4E4E-BC0F-F18B88F1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19350"/>
            <a:ext cx="20193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0D9772-2E61-4C4A-A50E-7F7E06D7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908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CE094F-FF06-48F0-8FC8-CC878236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384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2B8AE7-C940-4923-BCA2-E1B043AA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908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Record the verdict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4CD8BA-465C-425C-8E79-300C79A0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9900"/>
            <a:ext cx="16764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Notes can be fragmented across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spreadsheets, PDFs, and personal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judgement.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18E8E2-3C30-4A20-9E32-BDAF65CB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766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E"/>
          </a:solidFill>
          <a:ln xmlns:a="http://schemas.openxmlformats.org/drawingml/2006/main" w="0">
            <a:solidFill>
              <a:srgbClr val="1F5D8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863F33-901B-4D63-B6F4-57E245D2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194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E"/>
          </a:solidFill>
          <a:ln xmlns:a="http://schemas.openxmlformats.org/drawingml/2006/main" w="0">
            <a:solidFill>
              <a:srgbClr val="1F5D8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76DD8F-6883-4946-8169-783D3EE9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19350"/>
            <a:ext cx="20193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D32455-49C0-4321-A903-C6F7A5BC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908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3194EC-6085-4351-9993-D11C82F2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384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5FC6EF-996D-4581-AFD5-613FE563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908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Defend the outcome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835A3A-3C01-439F-AA48-07798F79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16764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Auditors ask for logic, evidence,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and chronology after the decision</a:t>
            </a:r>
          </a:p>
          <a:p xmlns:a="http://schemas.openxmlformats.org/drawingml/2006/main">
            <a:pPr algn="l">
              <a:defRPr sz="82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already happened.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60649C-8E81-4D27-BC67-363BE82C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1163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1"/>
          </a:solidFill>
          <a:ln xmlns:a="http://schemas.openxmlformats.org/drawingml/2006/main" w="10478">
            <a:solidFill>
              <a:srgbClr val="D7D1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6FA138-A484-4758-A98F-2E7C968F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4D3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24D3E"/>
                </a:solidFill>
                <a:latin typeface="Georgia"/>
                <a:ea typeface="Georgia"/>
                <a:cs typeface="Georgia"/>
              </a:rPr>
              <a:t>The explanation gap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1B81A9-ABC1-475B-B649-2ABF9C9C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28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Two officers can look at the same evidence and reach different outcomes because the workflow is not structured around explicit criteria, linked evidence, and an immutable audit trail.</a:t>
            </a:r>
          </a:p>
        </p:txBody>
      </p:sp>
    </p:spTree>
    <p:extLst>
      <p:ext uri="{BB962C8B-B14F-4D97-AF65-F5344CB8AC3E}">
        <p14:creationId xmlns:p14="http://schemas.microsoft.com/office/powerpoint/2010/main" val="9946598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4FB29B-14E5-4508-A17A-3859BA3B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D23A5-9E70-4922-AE9B-488E1E43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D060E-36B8-4E3A-AF1B-5420322A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68565-B6DE-4BCF-9907-0451FA80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PARAKH uses AI for extraction and structure, but keeps authority with the officer.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8CBEB-052C-4BB3-AAB2-EB2305D3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That balance is exactly why the solution fits the hackathon theme and the procurement reality.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6C1B8-AEFD-4563-863C-BEA25E8D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517F7-04D9-4C7D-A00B-44242376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5C8E2-EFE2-4857-9661-BD343F93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FDEA6-BCC3-41E8-B980-B331E8AC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7AB7D-F394-431A-B55E-4A31E9E7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892D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C2892D"/>
                </a:solidFill>
                <a:latin typeface="Georgia"/>
                <a:ea typeface="Georgia"/>
                <a:cs typeface="Georgia"/>
              </a:rPr>
              <a:t>TUE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7A6D6-FC48-4E08-A384-B7C8AA14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Tender Understanding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5CA91-F744-43ED-8AAD-8F6B57E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Creates a versioned criteria manifest from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tender-side rules, staged into administrative,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technical, and capacity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54D3E-963C-4894-860D-A2AA58E5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19A37-7D30-48BA-A076-AB3A49B1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5D8E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F5D8E"/>
                </a:solidFill>
                <a:latin typeface="Georgia"/>
                <a:ea typeface="Georgia"/>
                <a:cs typeface="Georgia"/>
              </a:rPr>
              <a:t>BDI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ABABD-0940-47D2-B78D-B76EDE80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Bidder Document Intelligence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84300-628D-4F46-A091-97C5FB68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Accepts bidder uploads, extracts text and fields,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and turns heterogeneous documents into structured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304E0-329D-4D30-B25F-82ECB8C7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3AED6-C333-474C-89AC-0ACFB3D4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892D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C2892D"/>
                </a:solidFill>
                <a:latin typeface="Georgia"/>
                <a:ea typeface="Georgia"/>
                <a:cs typeface="Georgia"/>
              </a:rPr>
              <a:t>EARE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C1B6FC-691C-427E-874B-BF764079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6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Evaluation and Ambiguity-Resolution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CC14E-4DDF-4008-A6B7-7304383E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9580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Maps evidence to criteria and produces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deterministic three-state verdicts: Eligible, Not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Eligible, or Needs Manual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ED604-6A05-4EBF-A6F6-E3228BC4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7E2FB-AA1D-4D29-AA2A-715F7700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5D8E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F5D8E"/>
                </a:solidFill>
                <a:latin typeface="Georgia"/>
                <a:ea typeface="Georgia"/>
                <a:cs typeface="Georgia"/>
              </a:rPr>
              <a:t>HLWAS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3DB5E-EC6E-4679-A184-FB63C359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00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Human-in-the-Loop Workbench and Audit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7F0BD3-2F8F-46BC-8350-6ECA00CF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2925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Lets officers review criterion-level logic, record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overrides with reason codes, inspect audit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history, and export reports.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C9A921-00AA-447E-9A64-F345BCB9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47900"/>
            <a:ext cx="5848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7B686B-7AF0-445D-8686-D4790EBF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D8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F5D8E"/>
                </a:solidFill>
                <a:latin typeface="Georgia"/>
                <a:ea typeface="Georgia"/>
                <a:cs typeface="Georgia"/>
              </a:rPr>
              <a:t>Why this fits the problem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F6841B-D93C-4B80-9D53-E86316F7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43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82F1C-0354-437F-993E-E16CCFA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501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PARAKH matches the theme by applying AI only where it</a:t>
            </a:r>
          </a:p>
          <a:p xmlns:a="http://schemas.openxmlformats.org/drawingml/2006/main">
            <a:pPr algn="l">
              <a:defRPr sz="93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adds traceable operational value: document</a:t>
            </a:r>
          </a:p>
          <a:p xmlns:a="http://schemas.openxmlformats.org/drawingml/2006/main">
            <a:pPr algn="l">
              <a:defRPr sz="93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understanding, structured extraction, and decision...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817206-47C4-4DD0-9BCE-CB7E5A71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FCFBF3-9665-441D-9E23-250102DE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86150"/>
            <a:ext cx="501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Deterministic rules handle objective criteria, while</a:t>
            </a:r>
          </a:p>
          <a:p xmlns:a="http://schemas.openxmlformats.org/drawingml/2006/main">
            <a:pPr algn="l">
              <a:defRPr sz="93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uncertain or subjective cases are escalated to</a:t>
            </a:r>
          </a:p>
          <a:p xmlns:a="http://schemas.openxmlformats.org/drawingml/2006/main">
            <a:pPr algn="l">
              <a:defRPr sz="93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officers instead of being auto-rejected.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07DA46-55AC-4311-9C24-D7EA9585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68E384-B7D6-4DB2-8A01-14CB70C6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501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The solution is tailored to procurement realities such</a:t>
            </a:r>
          </a:p>
          <a:p xmlns:a="http://schemas.openxmlformats.org/drawingml/2006/main">
            <a:pPr algn="l">
              <a:defRPr sz="93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as tender-side versioning, bidder-side evidence</a:t>
            </a:r>
          </a:p>
          <a:p xmlns:a="http://schemas.openxmlformats.org/drawingml/2006/main">
            <a:pPr algn="l">
              <a:defRPr sz="93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capture, and audit-ready export.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F5FF3D-81D3-426B-BD31-51F148DA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14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E38ED7-D3A2-4D96-8473-DE9449AD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67250"/>
            <a:ext cx="501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The platform directly addresses the explanation gap by</a:t>
            </a:r>
          </a:p>
          <a:p xmlns:a="http://schemas.openxmlformats.org/drawingml/2006/main">
            <a:pPr algn="l">
              <a:defRPr sz="93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preserving evidence, reasoning, overrides, and</a:t>
            </a:r>
          </a:p>
          <a:p xmlns:a="http://schemas.openxmlformats.org/drawingml/2006/main">
            <a:pPr algn="l">
              <a:defRPr sz="93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tamper-evident event history.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73780F-6CEC-491E-8786-66D719B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86450"/>
            <a:ext cx="584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10478">
            <a:solidFill>
              <a:srgbClr val="E6D7B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9B2E98-D901-44BB-9E61-BCC2E722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981700"/>
            <a:ext cx="523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AI is bounded, auditable, and explicitly subordinate to officer judgement.</a:t>
            </a:r>
          </a:p>
        </p:txBody>
      </p:sp>
    </p:spTree>
    <p:extLst>
      <p:ext uri="{BB962C8B-B14F-4D97-AF65-F5344CB8AC3E}">
        <p14:creationId xmlns:p14="http://schemas.microsoft.com/office/powerpoint/2010/main" val="15693316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3E6A66-56B0-434B-B80E-4BC7355E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11EB-CF61-49E5-BA3D-96AF03CA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31B7C-F8B6-4673-8241-52EF5B8D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45679-24C8-4699-AB3A-DA501A5B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The platform connects tender rules, bidder evidence, deterministic evaluation, officer review, and export in one chain.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B00BA-37A3-4CDB-AEF3-90D82002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C3588-843C-46F1-B2AB-E2E11B5D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25BFC-7297-4D22-9F87-58A93486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b8e9600294bef"/>
          <a:stretch xmlns:a="http://schemas.openxmlformats.org/drawingml/2006/main"/>
        </p:blipFill>
        <p:spPr>
          <a:xfrm xmlns:a="http://schemas.openxmlformats.org/drawingml/2006/main">
            <a:off x="2624667" y="2171700"/>
            <a:ext cx="6942667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86C44-55DF-4361-9318-227FE6C3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9525">
            <a:solidFill>
              <a:srgbClr val="E6D7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20343-4C64-4CE1-8D6A-9C24174D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This is the core demo story: every stage leaves behind structured data that the next stage can reuse and audit.</a:t>
            </a:r>
          </a:p>
        </p:txBody>
      </p:sp>
    </p:spTree>
    <p:extLst>
      <p:ext uri="{BB962C8B-B14F-4D97-AF65-F5344CB8AC3E}">
        <p14:creationId xmlns:p14="http://schemas.microsoft.com/office/powerpoint/2010/main" val="2011017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518148-1B4B-4DB9-BF94-1255BCDA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C33F1-EC29-40F1-BBBE-7DE25B77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BD0C8-3C3A-457C-88A9-CF5A0961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CFF06-6327-424E-BB80-54280B97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A judge can understand the product in under five minutes because the workflow is linear, visible, and evidence-led.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5CC7C-3987-48B0-932E-935CCA9A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2B21F-D6E7-400A-8031-58081A56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3560F-144C-4F91-9FFC-A3E1030E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72b18b5354f47"/>
          <a:stretch xmlns:a="http://schemas.openxmlformats.org/drawingml/2006/main"/>
        </p:blipFill>
        <p:spPr>
          <a:xfrm xmlns:a="http://schemas.openxmlformats.org/drawingml/2006/main">
            <a:off x="1181100" y="2095500"/>
            <a:ext cx="6667500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9A8D6-A4D7-41CA-BD69-CC77574C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71700"/>
            <a:ext cx="28575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DCC67-55CA-422A-85BD-5A458DC7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D8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F5D8E"/>
                </a:solidFill>
                <a:latin typeface="Georgia"/>
                <a:ea typeface="Georgia"/>
                <a:cs typeface="Georgia"/>
              </a:rPr>
              <a:t>What the judge should see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8DA78-978B-4312-ACDB-8C026712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28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C51A7-CF6D-4C17-9917-C8AA4FA1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Seeded tender and seeded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users remove setup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friction.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E979D-C23A-4FA4-9F1A-730EE2B9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33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EA29D-7E95-4D27-9C2F-9FCCB399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861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Checklist-driven upload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makes the platform easy to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narrate.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23BC5-8AAB-4454-83F9-1AFE5E0C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3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489C7-0C9D-4981-A93B-1C665FF9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910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Evaluation links every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verdict back to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B18EA-4B33-42AD-8A36-44CE3FBA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43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EF2A8-3422-4979-A729-5493D758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958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Audit export makes the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value visible immediately.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014F2-239E-473E-B2F1-EF8C7197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1104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06E27-A8C4-4D22-B419-5BBFC5D8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054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A87E1-4953-4AC5-BB7B-E17018FE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673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Criteria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3B9CD-48DC-416E-A9E2-AA1421AC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657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Seeded manifest factors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D8129-6027-497B-8B55-11B06AEC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53000"/>
            <a:ext cx="1104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B491E-C79A-4F13-B81A-85319B23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1054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C8E3B-97F0-4093-A088-10E6F351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4673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667A0C-5E47-483D-B5BF-9FD5A197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57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Checklist uploads</a:t>
            </a:r>
          </a:p>
        </p:txBody>
      </p:sp>
    </p:spTree>
    <p:extLst>
      <p:ext uri="{BB962C8B-B14F-4D97-AF65-F5344CB8AC3E}">
        <p14:creationId xmlns:p14="http://schemas.microsoft.com/office/powerpoint/2010/main" val="10981874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841C02-6307-4FB1-AE4B-2690C92C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06EEF-E3C5-4960-B0C3-24B2A584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6CDA0-E383-4559-BAC6-12809481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TUE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A8132-F670-4379-B966-0F37EFA7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Tender-side files become a versioned criteria manifest instead of a pile of disconnected PDFs.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45921-0C64-4CA9-82C1-8EEB9E6E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CAE6E-957A-406C-8DBA-3B708D2E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42391-838D-4F9C-9908-A02E83B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49847b4794ba5"/>
          <a:stretch xmlns:a="http://schemas.openxmlformats.org/drawingml/2006/main"/>
        </p:blipFill>
        <p:spPr>
          <a:xfrm xmlns:a="http://schemas.openxmlformats.org/drawingml/2006/main">
            <a:off x="1234506" y="2247900"/>
            <a:ext cx="2655437" cy="3752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92058-D1FA-4D39-B393-C38A46BF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66484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CCE97-B7B6-4C9E-BDB2-B71012F5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384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D8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F5D8E"/>
                </a:solidFill>
                <a:latin typeface="Georgia"/>
                <a:ea typeface="Georgia"/>
                <a:cs typeface="Georgia"/>
              </a:rPr>
              <a:t>What happens in this 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6EAE8-DD23-454C-A869-B53AA70F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67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471E2-9C6C-4CE5-A961-FDB32306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Tender metadata is captured through the Tender</a:t>
            </a:r>
          </a:p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Console.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08DC5-A089-4681-92A1-9E8FBF86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5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6E9F7-4E56-4AF1-9FFE-C3A1976F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0995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Tender-side files are stored with document id, type,</a:t>
            </a:r>
          </a:p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path, and timestamp.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54A74-5902-4116-BDD2-809C9267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48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95D13-9486-4AF7-A9EF-07C357A8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Generate Draft creates a structured manifest from</a:t>
            </a:r>
          </a:p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seeded evaluation criteria.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39B4A-ABC8-4DB2-844B-4F780E8C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38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26419-D7D3-45BA-A901-1DCE7A01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9105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Officers can review descriptions, threshold JSON, and</a:t>
            </a:r>
          </a:p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guidance notes before approval.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47360-05C6-4596-9F09-2F7EAA0B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5300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6E6BD-CD38-4B3D-AE2B-D15FDB3A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0540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B92AA9-198A-4C50-9E14-8AA6C6E6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6735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Seeded criteria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768B9-6549-401E-8E50-EE56F0A4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5785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Admin, Tech, Capacity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B7D66-A37A-44A7-80AD-21B7509C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5300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560E01-6E15-42FD-852E-13EE5BB7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054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Versioned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F0810-F85C-44DB-BF49-1117EFF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67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Manifest lifecycle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874C41-AC99-442A-9C33-FCCC17E8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65785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DRAFT, APPROVED, SUPERSEDED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391EF5-2731-4403-90BE-67C254B7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53000"/>
            <a:ext cx="2647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8EF5D1-E33C-4C8C-86AF-0275BC42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054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Tender trace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A2911-1809-4656-A22E-6D324231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6735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Every source document is stored and referenced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1E4224-A635-4AF4-809C-A78D3025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657850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Ready for later audit</a:t>
            </a:r>
          </a:p>
        </p:txBody>
      </p:sp>
    </p:spTree>
    <p:extLst>
      <p:ext uri="{BB962C8B-B14F-4D97-AF65-F5344CB8AC3E}">
        <p14:creationId xmlns:p14="http://schemas.microsoft.com/office/powerpoint/2010/main" val="3033124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40AA58-90C6-43D2-B2F0-A4A13B87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4BB00-F13E-4DC2-82E4-694EA485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E68F0-618A-4A8C-AA5D-40448D1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BDI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735E4-2653-4445-B88F-A14272C4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The bidder workflow is checklist-driven, which makes the platform practical for real submission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3DA34-8CD4-442D-8921-C28F52DA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68C01-015D-4225-936D-E1F8560B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8A2EF-50A7-4B7C-A63E-6503E345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f124f795a4e5d"/>
          <a:stretch xmlns:a="http://schemas.openxmlformats.org/drawingml/2006/main"/>
        </p:blipFill>
        <p:spPr>
          <a:xfrm xmlns:a="http://schemas.openxmlformats.org/drawingml/2006/main">
            <a:off x="514350" y="3573423"/>
            <a:ext cx="4381500" cy="81605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D25BD-AFBE-4E54-BF49-8E0A0F92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6496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92DD1-D9E3-4207-9EAA-26765283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57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A5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E6A5E"/>
                </a:solidFill>
                <a:latin typeface="Georgia"/>
                <a:ea typeface="Georgia"/>
                <a:cs typeface="Georgia"/>
              </a:rPr>
              <a:t>Document intake and extraction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3478D-374D-47A2-B74A-5D424D87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67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0948F-859C-4DFA-9E39-FE35F173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560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Each bidder is initialized with a 10-document checklist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from fixture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CEBC8-3ABD-49F6-83EC-5C2BDCB8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19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611A6-E7D5-46EA-BD93-9CDD7426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560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Uploaded files are stored per tender and bidder, then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passed to extraction routines.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B6FA1-C18D-4446-99C9-EA42B9EB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71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C70B7-7D99-4CC5-908E-5C4AA8E1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24300"/>
            <a:ext cx="560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The prototype supports digital PDFs, images, HTML, and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fallback handling.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27B06-DF77-41E3-8113-3C03B4A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24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98F36-1F6A-439E-929C-86D5D541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76750"/>
            <a:ext cx="560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Structured fields include PAN, GSTIN, EMD details,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ballistic levels, turnover averages, size mix, OEM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authorization, and experience years.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93A63-AD7C-46D1-8670-BEE10148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101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11B4C-0D02-4B30-A043-9FFC4914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625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F258B-834C-4099-8429-6B2EA3C1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52450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Checklist docs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EE079-0FE2-43B9-A158-DE1DE23E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7150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Mapped to evidence templates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7202F3-E9A2-4FE4-AF48-94BA4FCD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101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A95D3-E8A9-4922-8E47-36B1589B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625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6300E-23E5-4D63-915F-94226C12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52450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Input types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A88621-32B1-43DB-B5C4-4744D4CA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150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pdf, image, html, 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B3C63A-F9CB-4427-8CF6-3BA333E7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10150"/>
            <a:ext cx="2419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B58CA-7127-49E9-B435-EAA89C9D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625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Confidence-aware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DF4A70-6857-4B78-852B-22529DC8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5245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Extraction 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6B06AA-C3B9-47F6-983B-0BC32E7F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1500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Low-confidence fields route to manual review</a:t>
            </a:r>
          </a:p>
        </p:txBody>
      </p:sp>
    </p:spTree>
    <p:extLst>
      <p:ext uri="{BB962C8B-B14F-4D97-AF65-F5344CB8AC3E}">
        <p14:creationId xmlns:p14="http://schemas.microsoft.com/office/powerpoint/2010/main" val="213861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D7AB2C-23F8-497F-B93D-EB7BA2D3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06CDF-CBA3-4524-B8F2-924C74F4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ABBFB-0881-40FA-9B4D-711CF3B6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EARE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C6FBF-C9D5-4919-BC1A-C408273D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PARAKH is strongest where many AI demos are weakest: it refuses false 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9F25C-BA19-46E7-87CB-1F243657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72191-01B5-423F-A436-D27F713D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B0F3A-87C6-4150-803E-4900B683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657c25f974d07"/>
          <a:stretch xmlns:a="http://schemas.openxmlformats.org/drawingml/2006/main"/>
        </p:blipFill>
        <p:spPr>
          <a:xfrm xmlns:a="http://schemas.openxmlformats.org/drawingml/2006/main">
            <a:off x="702527" y="2152650"/>
            <a:ext cx="6862646" cy="4019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AB6E7-4537-47D9-84FE-DEACD0C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36195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83734-B345-42CC-A8AA-FF29C22E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D8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F5D8E"/>
                </a:solidFill>
                <a:latin typeface="Georgia"/>
                <a:ea typeface="Georgia"/>
                <a:cs typeface="Georgia"/>
              </a:rPr>
              <a:t>Decision mechanics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6B99F-A73D-4632-9CA9-0FDD9231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72294-AAEE-4B06-8D4C-7C359114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Objective hard rules can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auto-resolve when evidence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is complete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BEADB-2814-4D25-A08A-5FCA9636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E6618-8956-4AA4-9ABE-7EB46D72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Missing or weak evidence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automatically becomes Needs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Manual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6A615-4FEA-4157-8FD5-9854E23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67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3D02C-359D-4167-B51B-23BBF2A6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Subjective checks remain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officer-reviewable even when</a:t>
            </a:r>
          </a:p>
          <a:p xmlns:a="http://schemas.openxmlformats.org/drawingml/2006/main">
            <a:pPr algn="l">
              <a:defRPr sz="863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extraction hints exist.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6B600-46B6-4D03-B480-A03F6344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81600"/>
            <a:ext cx="95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1EFF8-4B6E-4705-B102-FA5A8293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340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A76A9-1C3E-4F7E-810E-D4037A32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959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Verdicts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D40EE-C275-43FF-8E6C-FFA7589C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864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Eligible / Not Eligible /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41611-AB7D-4F3D-9BB4-2E0B93F8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81600"/>
            <a:ext cx="95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28D37-C132-452C-8C53-C9A37928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3340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581E2-DF69-495E-B921-3E245339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959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Reason codes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EB4456-2867-4FEB-B375-E6B723A0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864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Structured override capture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12B1C1-17EB-42A1-A609-4D3841DB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18160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56F6F5-540B-43D5-A555-31186E5A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3340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SHA-256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0B1208-9941-4D1F-8D07-D3222D98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6959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Audit chain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B65BA-B814-465D-B0E1-F4C20DF1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8864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Tamper-evident events</a:t>
            </a:r>
          </a:p>
        </p:txBody>
      </p:sp>
    </p:spTree>
    <p:extLst>
      <p:ext uri="{BB962C8B-B14F-4D97-AF65-F5344CB8AC3E}">
        <p14:creationId xmlns:p14="http://schemas.microsoft.com/office/powerpoint/2010/main" val="9985472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D7FDDA-B134-4A32-A235-2C45324C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4A53D-CC88-4B26-8B9E-C781AD3D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C9984-CAF5-42D6-BF0F-98545F30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45C92-7FA0-427D-81C7-45BE916A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The platform ends where trust begins: a human-readable, machine-traceable record of why the decision happened.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57201-C31E-4593-BFE8-55E49495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5F167-1612-4FBC-80B2-B775CE5C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2CC20-499C-439E-AAA4-E7E79DA4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35947b66b4fdc"/>
          <a:stretch xmlns:a="http://schemas.openxmlformats.org/drawingml/2006/main"/>
        </p:blipFill>
        <p:spPr>
          <a:xfrm xmlns:a="http://schemas.openxmlformats.org/drawingml/2006/main">
            <a:off x="1449130" y="2190750"/>
            <a:ext cx="2530989" cy="3581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80EA7-2ABD-411E-B52D-8FD2793A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64579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6819C-9884-47A9-8692-CCEEABF0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81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4D3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24D3E"/>
                </a:solidFill>
                <a:latin typeface="Georgia"/>
                <a:ea typeface="Georgia"/>
                <a:cs typeface="Georgia"/>
              </a:rPr>
              <a:t>Audit-ready behaviors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DAE6B-4496-4730-BCB4-1843E493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38DF8-9090-4F61-BCE5-97C2EE98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62250"/>
            <a:ext cx="560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Every evaluation and override is stored as a new</a:t>
            </a:r>
          </a:p>
          <a:p xmlns:a="http://schemas.openxmlformats.org/drawingml/2006/main">
            <a:pPr algn="l">
              <a:defRPr sz="88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append-only event.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84C78-599F-40E7-B251-ED776AFE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6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123E3-59F5-4083-8091-3AE1FCD9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560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Each event carries evidence references, extracted</a:t>
            </a:r>
          </a:p>
          <a:p xmlns:a="http://schemas.openxmlformats.org/drawingml/2006/main">
            <a:pPr algn="l">
              <a:defRPr sz="88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values, match logic, reviewer data, and prior event</a:t>
            </a:r>
          </a:p>
          <a:p xmlns:a="http://schemas.openxmlformats.org/drawingml/2006/main">
            <a:pPr algn="l">
              <a:defRPr sz="88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linkage.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D07C6-6D5F-4A0A-A091-FEAF886F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14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144B1-97A1-4962-B4F4-0F43E7E3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67150"/>
            <a:ext cx="560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The audit page groups events by criterion so judges and</a:t>
            </a:r>
          </a:p>
          <a:p xmlns:a="http://schemas.openxmlformats.org/drawingml/2006/main">
            <a:pPr algn="l">
              <a:defRPr sz="88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officers can trace the full chronology.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361CB-E6E5-4CA8-93EC-BD448C77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67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C7CB7-E88B-4046-B3FE-655C768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19600"/>
            <a:ext cx="560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Exports are available in both Excel and PDF formats for</a:t>
            </a:r>
          </a:p>
          <a:p xmlns:a="http://schemas.openxmlformats.org/drawingml/2006/main">
            <a:pPr algn="l">
              <a:defRPr sz="88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downstream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CCA8B-5EF8-4A06-BF45-DBA8B922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10150"/>
            <a:ext cx="2876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D7D1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EFA27-7E5A-44EF-B73D-EFBD30F9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24D3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24D3E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DE549-79A8-48E7-97E4-A3B3E92A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34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It turns the result from AI says so into evidence, logic, and audit trail.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04940-1AAA-49AC-8881-BA1C30A7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0150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3EBDB-4D5D-40F4-BD90-053E7E55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625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PDF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2DEEA8-831D-46A4-8110-2E291BB2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524500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Export format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15F925-57E7-49CC-B086-20CBFB3D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1500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Narrative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6DE5E2-249D-48C5-B569-B70ABE38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010150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0FCCB7-B65E-49E3-A28A-423AF516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625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XLSX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E3D41A-2B09-49FA-B88F-1698B965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524500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Export format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DCF278-1E71-492F-B455-8D0AFE5B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1500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Structured workbook</a:t>
            </a:r>
          </a:p>
        </p:txBody>
      </p:sp>
    </p:spTree>
    <p:extLst>
      <p:ext uri="{BB962C8B-B14F-4D97-AF65-F5344CB8AC3E}">
        <p14:creationId xmlns:p14="http://schemas.microsoft.com/office/powerpoint/2010/main" val="501497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8AB4F6-AD54-4EF3-BF3B-AD43B9B8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B65F5-3386-440A-B971-8C83481B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ED9E7-8C5E-4D1A-B9DE-84AAA95C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43E8A-6906-45AC-A0F7-3A96ACBA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The prototype already covers the full procurement-assistance loop instead of stopping at extraction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80FB3-2C00-477A-AB99-98B42507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74512-DC19-4565-AD92-D6CDFECE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DC9EC-099A-429F-8786-91D5FCBC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D0B8E-CA4D-4D19-BA56-3145DE3C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326B9-D8E3-44D5-AFBC-B41D84E0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Tender creation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26D36-E724-4C7B-8E92-57489075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Authority-side record creation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with metadata and document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7B3B1-8964-41CB-850D-28BE0063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68A5D-B06F-4560-A011-E974F708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Manifest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27789-BC42-42B9-8F47-99349713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670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Versioned criteria blueprint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with editable threshold JSON.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59C91-4890-456F-9D57-59E7CC12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19706-0ADD-4BCC-BF92-C3C7E5EF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Checklist uploads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AFFFB-CCA4-460C-AA53-9198C87A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670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Bidder workspace driven by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document requirements.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BABC7-155D-431E-A0AC-82C15441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0B7DD-E0EF-43EA-96E6-8AC5E413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Evidence extraction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91557-5B24-49BB-98A4-4ABB4B4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Field-level capture with text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preview and confidence scores.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CAD99-2FB3-44E8-9902-CF8C98C1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89EDF-81A6-4668-AFB6-86935D34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76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Three-state verdicting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49479-88BE-4DE7-B495-A41B4644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005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Eligible, Not Eligible, or Needs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Manual Review.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CABB0-1E2A-4436-A126-A6BB486B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4335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F0183-4336-4713-894D-052BC846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Audit export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A0AF93-CF70-445E-8789-D680AB04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005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Excel and PDF generation from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append-only event history.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CA013D-5AE6-470A-B71A-32891836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C77155-AD0A-47C7-8DF7-BF91D032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C24BFB-E05E-48C1-A2EF-C125299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C4887C-A43D-4B42-9B56-B44B069C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TUE, BDI, EARE, HLWAS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F6DC91-97B5-442C-84CA-3667C64A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90550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924357-A708-4329-8421-518F63BD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057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7B0BEB-1403-4F41-A414-A1B52F14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4198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Core criteria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DEC792-C4F7-4446-A3B5-C03DCC66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610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Seeded procurement checks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4B42B3-83B8-4BE6-8BC2-4313620B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90550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AB9A8C-8B3C-4CC8-BEFC-17E5DF5B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57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B46B2F-F24D-4A57-B163-A5C50C6C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Checklist docs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076386-36C9-4C05-B21B-8BB1AD61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610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Bidder evidence categories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283D03-8415-4BC6-8DF9-C05B9DF2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0550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475CA7-B33D-458A-AA0E-7FD493B3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057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9D1BE2-CF85-4C30-A3EB-047F8843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198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Reason codes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5137AD-5C05-4C52-A650-307EEA7C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610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Override control surface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EFB27E-32A3-4AE1-AFDC-9C718CB2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90550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005385-628F-4C97-A843-E44D1D8C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57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A24D81-87C6-4FA8-B89D-1545E33F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198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Export modes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9F7958-7BB1-4486-AEF3-EED8ABA9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610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PDF and Excel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E4094C-73D4-42CA-9C44-1F6F1047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90550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AC1FE1-D778-4280-944F-00615EC1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057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Officer-first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04FC65-B64F-4CD4-9878-2C4BA277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4198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Operating stance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69F8FB-CA96-46C5-B714-55A20C71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Authority stays human</a:t>
            </a:r>
          </a:p>
        </p:txBody>
      </p:sp>
    </p:spTree>
    <p:extLst>
      <p:ext uri="{BB962C8B-B14F-4D97-AF65-F5344CB8AC3E}">
        <p14:creationId xmlns:p14="http://schemas.microsoft.com/office/powerpoint/2010/main" val="6934346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EAF5BB-4E14-43E6-8903-96C54841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26AAD-FCB2-48A6-80F6-9B7A1D07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DE630-4C54-47CA-8AB9-6DD420B6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BCBED-DB49-436D-9847-243053F4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The stack is straightforward enough for a hackathon prototype and strong enough to communicate production intent.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A55AB-7274-41DA-B7BF-9F375196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4A993-2087-40A5-ADB9-CEF6C806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B423C-6800-45BA-9689-AAF2BD46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c8f3cbcb8433c"/>
          <a:stretch xmlns:a="http://schemas.openxmlformats.org/drawingml/2006/main"/>
        </p:blipFill>
        <p:spPr>
          <a:xfrm xmlns:a="http://schemas.openxmlformats.org/drawingml/2006/main">
            <a:off x="2353733" y="2076450"/>
            <a:ext cx="7484533" cy="421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60C20-8000-48AA-95CE-C8A9DA51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9525">
            <a:solidFill>
              <a:srgbClr val="E6D7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71483-86BD-43CA-843A-1481FC3B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725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Frontend: Next.js + React | Backend: FastAPI | Database: MongoDB | Exports: openpyxl + ReportLab | Infra: Docker Compose + Redis stub</a:t>
            </a:r>
          </a:p>
        </p:txBody>
      </p:sp>
    </p:spTree>
    <p:extLst>
      <p:ext uri="{BB962C8B-B14F-4D97-AF65-F5344CB8AC3E}">
        <p14:creationId xmlns:p14="http://schemas.microsoft.com/office/powerpoint/2010/main" val="1055872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8BA2E1-4B65-44A5-876C-5BD8D3A5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8A862-2D6E-45DA-B38F-9385775C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FE054-91E3-4680-91C8-182C448D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WHY PARAKH IS DIFFERENT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E93F1-254F-4349-AC56-D54B66EB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This is not another AI-on-PDFs demo. Its differentiation comes from governance discipline.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7823C-4382-4FFB-9CD1-1D6AB4C1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F4690-C12B-4383-A5EE-6C99BE9E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3D439-F752-4B50-99B6-52C0C54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B338C-FBA1-4243-9E8D-27E83EB8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D0DAA-D77E-4C25-874D-703E43D9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Manual review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BFC65-04A6-4780-9A76-19764332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75791-B085-4362-A357-FBD6AE2B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336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Generic black-box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E84A6-3416-4C8B-A74A-508C9ED5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5542C-711F-49DF-A0B9-B69EE023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A5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E6A5E"/>
                </a:solidFill>
                <a:latin typeface="Georgia"/>
                <a:ea typeface="Georgia"/>
                <a:cs typeface="Georgia"/>
              </a:rPr>
              <a:t>PARAKH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71EE1-6B6C-4CAC-BB98-D3FCF4EC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BD63F-97F6-4D77-98D0-31C07040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Speed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0DC56-B19E-46DB-9E4F-E4C72C9C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E329A-1D70-49C6-9713-714816F2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956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Slow and person-dependent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3192F-5A35-4F7C-88E1-C86784FF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2415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2E40C-EFF2-4734-8E92-119D40A9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956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Fast, but often opaque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4B7A4-9F5A-4124-91EF-D8A4E81D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2933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2C945-732B-49C0-91E9-B707F8A6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Fast where evidence is</a:t>
            </a:r>
          </a:p>
          <a:p xmlns:a="http://schemas.openxmlformats.org/drawingml/2006/main">
            <a:pPr algn="l">
              <a:defRPr sz="788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clear; reviewable where it</a:t>
            </a:r>
          </a:p>
          <a:p xmlns:a="http://schemas.openxmlformats.org/drawingml/2006/main">
            <a:pPr algn="l">
              <a:defRPr sz="788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is not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4E76E-201E-4A62-A869-7668E53D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13DD0-0115-4B2E-838F-21A0213A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Consistency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EA704-013F-4865-A894-BAE18335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4EB5A-1484-465B-9169-FF38D909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00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Varies by reviewer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78894-2532-4FE4-90CB-3F68D59B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3855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6408C1-998D-4084-92DF-88193E03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00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Can be brittle or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hallucination-prone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DE400-33EF-4DE3-B2C5-2FD86FFD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38550"/>
            <a:ext cx="2933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C625C1-AE65-47CC-8074-4D4F8510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00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Rules, manifests, and</a:t>
            </a:r>
          </a:p>
          <a:p xmlns:a="http://schemas.openxmlformats.org/drawingml/2006/main">
            <a:pPr algn="l">
              <a:defRPr sz="788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structured evidence create</a:t>
            </a:r>
          </a:p>
          <a:p xmlns:a="http://schemas.openxmlformats.org/drawingml/2006/main">
            <a:pPr algn="l">
              <a:defRPr sz="788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repeatability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9CDB5E-2C4D-455F-A4F7-6B7FEC1D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E8A2A4-E2FE-4D32-BC86-D61C735A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Auditability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D823DC-D59F-4BAF-A7AD-71E6C6D7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5295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8D6A07-3A4C-4960-A86F-63A2E892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244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Often fragmented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3D01C8-FC92-4816-8305-A3055BA3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5295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8E08B4-F980-4222-A825-E6FA879A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244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Weak unless custom logging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is added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151B1B-1759-4211-984D-2A24BD7D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52950"/>
            <a:ext cx="2933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5E8A9A-D97C-416F-95A4-014CA1D1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244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Built-in append-only event</a:t>
            </a:r>
          </a:p>
          <a:p xmlns:a="http://schemas.openxmlformats.org/drawingml/2006/main">
            <a:pPr algn="l">
              <a:defRPr sz="788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store with hashes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9DFF86-7378-4272-BEF4-E60686D2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9B7A41-EF59-40B7-BF2B-D12858CF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Officer control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3A1FFC-8AA0-4281-A3E3-C51AB3D7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6735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187AAC-ECE0-4B6D-9DD8-11A6539A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38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High, but inefficient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6644F3-0FC7-4B4D-BFE6-E849CE22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6735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9F0D7A-6EA5-441B-82BF-59FFFDE2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38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Low when the model acts</a:t>
            </a:r>
          </a:p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like a judge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3B0858-895C-4DB2-8CA7-14954384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67350"/>
            <a:ext cx="2933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691A5F-8EE1-4AB7-A759-52C57114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388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High, because overrides</a:t>
            </a:r>
          </a:p>
          <a:p xmlns:a="http://schemas.openxmlformats.org/drawingml/2006/main">
            <a:pPr algn="l">
              <a:defRPr sz="788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and reason codes are</a:t>
            </a:r>
          </a:p>
          <a:p xmlns:a="http://schemas.openxmlformats.org/drawingml/2006/main">
            <a:pPr algn="l">
              <a:defRPr sz="788" b="1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33A"/>
                </a:solidFill>
                <a:latin typeface="Aptos"/>
                <a:ea typeface="Aptos"/>
                <a:cs typeface="Aptos"/>
              </a:rPr>
              <a:t>first-class</a:t>
            </a:r>
          </a:p>
        </p:txBody>
      </p:sp>
    </p:spTree>
    <p:extLst>
      <p:ext uri="{BB962C8B-B14F-4D97-AF65-F5344CB8AC3E}">
        <p14:creationId xmlns:p14="http://schemas.microsoft.com/office/powerpoint/2010/main" val="203789149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CFFD75-21C2-4062-827E-1B39DE4F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DD3A3-0DA0-464D-83F9-4B3E2B99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8CB0F-ABEC-46AC-88C1-0FB41D12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SCOPE AND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93714-3282-4DB0-8AD8-E8DC9B89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The prototype is honest about what is working now and what should come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9F866-ED9E-4B45-9CAE-715EB20F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2EAA5-AF10-4CBD-AA7A-54F6EC9E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PARAKH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FAF56-5DC5-45AD-8A01-7D982966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52B9E-77E9-4BE9-AC62-60B6F233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5334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30DA7-D718-42CC-A577-BB34F8E9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6A5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E6A5E"/>
                </a:solidFill>
                <a:latin typeface="Georgia"/>
                <a:ea typeface="Georgia"/>
                <a:cs typeface="Georgia"/>
              </a:rPr>
              <a:t>Working in the 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EE8F5-EAE0-49DE-B9BE-15B96C62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3BB5A-85FD-489C-9730-FCA238B8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Tender creation, document upload, manifest</a:t>
            </a:r>
          </a:p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generation, and manifest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F91D3-5933-43BA-AF31-E24B40EE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F5726-8039-4886-AD55-E4484E7C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Bidder registration, checklist-driven</a:t>
            </a:r>
          </a:p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upload, and evidence ingestion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F9A20-6842-4702-8711-57EBEE5A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928CF-6255-4AB4-BD0D-D7CEBACC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Deterministic rule-based evaluation with</a:t>
            </a:r>
          </a:p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three-state verdicting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06F79-1E8A-4EFD-82AF-77BE25BE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8BF5B-1C42-412A-A8BE-00D750CB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Officer override flow with reason codes and</a:t>
            </a:r>
          </a:p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reviewer notes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CE5872-8672-4000-B72B-78827055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33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C7388-8374-4BD3-8996-DD253FB4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Audit timeline plus PDF and Excel export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C3BF5-B806-46D4-9446-DA241A1A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5334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C7FCD-11CD-49A3-A17A-384C6821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892D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2892D"/>
                </a:solidFill>
                <a:latin typeface="Georgia"/>
                <a:ea typeface="Georgia"/>
                <a:cs typeface="Georgia"/>
              </a:rPr>
              <a:t>Next-step roadmap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00E8E-ABEA-48F0-90DF-EE4F8226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71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35345-B89F-45B3-A6E9-57DE7FC3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Automated clause extraction from full</a:t>
            </a:r>
          </a:p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tender packs and corrigenda chains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B9913-C518-4433-80E6-6F248FB4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24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948E9-85BF-46F5-9119-EAA13F27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7660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Bilingual and handwritten document</a:t>
            </a:r>
          </a:p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robustness for field-heavy Indian</a:t>
            </a:r>
          </a:p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procurement files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421AC7-E2CB-48AC-AA7A-441801C7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A76A46-EA3D-4664-9F9C-89022F1A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290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Committee mode, clarification request</a:t>
            </a:r>
          </a:p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tracking, and deeper collaboration</a:t>
            </a:r>
          </a:p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workflows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CADBEF-2546-49B8-BE60-1B1BEF7A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29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EAC02-9C24-4357-B498-845DDF97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150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Advanced analytics across tenders,</a:t>
            </a:r>
          </a:p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bidders, overrides, and recurring risk</a:t>
            </a:r>
          </a:p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patterns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944B4C-E5C8-400B-B831-6C4B3FD0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81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088ABA-06FF-4AD9-8C9E-2FC13353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339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Deployment hardening for government cloud</a:t>
            </a:r>
          </a:p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environments and production security</a:t>
            </a:r>
          </a:p>
          <a:p xmlns:a="http://schemas.openxmlformats.org/drawingml/2006/main">
            <a:pPr algn="l">
              <a:defRPr sz="84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</p:spTree>
    <p:extLst>
      <p:ext uri="{BB962C8B-B14F-4D97-AF65-F5344CB8AC3E}">
        <p14:creationId xmlns:p14="http://schemas.microsoft.com/office/powerpoint/2010/main" val="20902878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FD2E3-124A-4AD1-B439-5C9F2718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42F7A-9A51-4AC3-A6CF-854AB515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1633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D0243-7E9D-4DB2-AE69-CD9396FD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6057F-387F-4156-A6E6-9F1F604A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PARAKH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94921-10C8-4B3D-965B-0EDC2F10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90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From black-box automation to audit-ready assistance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E9A3A-39DC-401D-942D-44F3701A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590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PARAKH shows that the best use of AI in public procurement</a:t>
            </a:r>
          </a:p>
          <a:p xmlns:a="http://schemas.openxmlformats.org/drawingml/2006/main">
            <a:pPr algn="l">
              <a:defRPr sz="18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is not replacing the officer. It is making the officer</a:t>
            </a:r>
          </a:p>
          <a:p xmlns:a="http://schemas.openxmlformats.org/drawingml/2006/main">
            <a:pPr algn="l">
              <a:defRPr sz="18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faster, safer, and more defensible.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E2A81-2184-4DEF-ACFE-50B65E2E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00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6213B-BD61-4CC6-8919-0850A819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512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Theme fit: AI-assisted tender evaluation for</a:t>
            </a:r>
          </a:p>
          <a:p xmlns:a="http://schemas.openxmlformats.org/drawingml/2006/main">
            <a:pPr algn="l">
              <a:defRPr sz="97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government procurement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20903-CA54-40CD-A9FC-C504A4B9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2C465-9717-4293-B945-8C608DEC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512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Demo fit: complete flow from tender intake to</a:t>
            </a:r>
          </a:p>
          <a:p xmlns:a="http://schemas.openxmlformats.org/drawingml/2006/main">
            <a:pPr algn="l">
              <a:defRPr sz="97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2F205-C58C-43F4-92D2-55E0A575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92D"/>
          </a:solidFill>
          <a:ln xmlns:a="http://schemas.openxmlformats.org/drawingml/2006/main" w="0">
            <a:solidFill>
              <a:srgbClr val="C289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83DC4-247E-4736-928A-D1D7E681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512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Differentiator: deterministic logic plus human</a:t>
            </a:r>
          </a:p>
          <a:p xmlns:a="http://schemas.openxmlformats.org/drawingml/2006/main">
            <a:pPr algn="l">
              <a:defRPr sz="975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accountability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D817D-9F8B-4941-8380-709C266F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33600"/>
            <a:ext cx="1409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DABF5-FDF8-4FBF-89AD-73FBC781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DAEEA-49D7-40B1-A8B3-8AF0458A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7AB51-2826-453A-9FB7-EEB6E3D0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Connected end-to-end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5B260-6CAE-4E9D-8756-334FEF3F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1409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1CE56-8BDE-43F4-BB18-6F485E92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2D3DD-E736-404C-95E6-DF59784A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479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Criteria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83C12-B300-43DD-9A6A-55514EA5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38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Seeded manifest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9594F-FF35-4F64-9B6A-378F81D5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133600"/>
            <a:ext cx="857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1430">
            <a:solidFill>
              <a:srgbClr val="D7D1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AEBFE-624C-4880-8B2E-F7C42B3A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2860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3A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1B72D-57EA-4C67-AFC0-7686276F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479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D7A"/>
                </a:solidFill>
                <a:latin typeface="Aptos"/>
                <a:ea typeface="Aptos"/>
                <a:cs typeface="Aptos"/>
              </a:rPr>
              <a:t>Exports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2FD190-EE6D-43AB-BE9E-786E8BBD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8384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PDF + XLSX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90D9AD-6B29-4102-9C2C-9FD2D98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398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10478">
            <a:solidFill>
              <a:srgbClr val="E6D7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C0421-64B7-464C-96FD-47E64C91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892D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2892D"/>
                </a:solidFill>
                <a:latin typeface="Georgia"/>
                <a:ea typeface="Georgia"/>
                <a:cs typeface="Georgia"/>
              </a:rPr>
              <a:t>Closing message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052EF-7AED-419A-AFB0-373F2164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33A"/>
                </a:solidFill>
                <a:latin typeface="Aptos"/>
                <a:ea typeface="Aptos"/>
                <a:cs typeface="Aptos"/>
              </a:rPr>
              <a:t>A procurement officer does not need a system that says trust me. They need a system that says here is the evidence, here is the logic, and here is the record.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D1364-60E9-4A14-B286-AAD8EECE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043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Team Zenith | Abhishek Neema (Leader) | Ramadhar | Aakash Kumar | Prahlad Bhatt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453782-A0EB-4A9E-B90C-C93C576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D7D1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DCC35B-9ABD-4EF6-942D-952D0A59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D7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E6D7A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91F110-AFB7-466A-897A-E1C8D5D0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34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D7A"/>
                </a:solidFill>
                <a:latin typeface="Georgia"/>
                <a:ea typeface="Georgia"/>
                <a:cs typeface="Georgia"/>
              </a:defRPr>
            </a:pPr>
            <a:r>
              <a:rPr sz="750" b="1">
                <a:solidFill>
                  <a:srgbClr val="5E6D7A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21874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2026-05-05T19:14:23.9360000Z</dcterms:created>
  <dcterms:modified xsi:type="dcterms:W3CDTF">2026-05-05T19:14:23.9360000Z</dcterms:modified>
</coreProperties>
</file>